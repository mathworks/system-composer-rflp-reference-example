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1224366-2358-4698-ad1b-8bcec857b406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4716a03-c93e-4b51-9552-3e5291ad2ffc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f88364e-b5d6-41da-9888-8b8d19a3d35b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310fff8a-0c3c-42a8-84fe-168580ea2efe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0e43be5c-f85d-479a-b949-a5b4e5599151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6466721d-ca3b-48f2-add6-8a3cf199d610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</Relationships>

</file>

<file path=ppt/slides/_rels/slide9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cf10f02d-1a64-4d94-8624-c4050c50dba4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Intergalactic Vegan Soup Factory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Architecture trade study at behavioral fidelity
Three candidates scored side by side - every number reproducible with runFullAnalysis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HyperCook - throughput first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09654"/>
            <a:ext cx="10058400" cy="3383280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LeanBroth - budget first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09654"/>
            <a:ext cx="10058400" cy="3383280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EverSimmer - resilience first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09654"/>
            <a:ext cx="10058400" cy="3383280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paper numbers (static roll-up)</a:t>
            </a:r>
          </a:p>
        </p:txBody>
      </p:sp>
      <p:graphicFrame>
        <p:nvGraphicFramePr>
          <p:cNvPr id="3" name="Left Content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5181600"/>
              </a:tblGrid>
              <a:tr h="621619">
                <a:tc>
                  <a:txBody>
                    <a:bodyPr/>
                    <a:p>
                      <a:r>
                        <a:t>Every component carries the same 11-property stereotype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Mass, power, cost, volume sum bottom-up through the hierarchy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Throughput is bottleneck math: a chain runs at its slowest stage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Budget caps are parsed from the requirement text at run time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HyperCook: 500.4 kW, 2097.2 kCr, 418.2 m^3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HyperCook is over power, cost and volume before anything runs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621619">
                <a:tc>
                  <a:txBody>
                    <a:bodyPr/>
                    <a:p>
                      <a:r>
                        <a:t>Claims, not evidence: assumes lossless flow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pic>
        <p:nvPicPr>
          <p:cNvPr id="4" name="Right Content"/>
          <p:cNvPicPr>
            <a:picLocks noChangeAspect="1" noGrp="1"/>
          </p:cNvPicPr>
          <p:nvPr>
            <p:ph idx="2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80" y="2743994"/>
            <a:ext cx="5120640" cy="2514600"/>
          </a:xfrm>
          <a:prstGeom prst="rect"/>
        </p:spPr>
      </p:pic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Run the factory (nominal simulation)</a:t>
            </a:r>
          </a:p>
        </p:txBody>
      </p:sp>
      <p:graphicFrame>
        <p:nvGraphicFramePr>
          <p:cNvPr id="3" name="Left Content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5181600"/>
              </a:tblGrid>
              <a:tr h="870267">
                <a:tc>
                  <a:txBody>
                    <a:bodyPr/>
                    <a:p>
                      <a:r>
                        <a:t>Behaviors live inside the architecture models themselves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Batch kettles heat up physically; QC rejects a few percent and recalibrates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Simulated vs rated: 308 vs 320, 197 vs 210, 232 vs 240 bph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First bowl: 119 s continuous vs ~57 min batch cold start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LeanBroth's margin is gone before the trade study even starts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pic>
        <p:nvPicPr>
          <p:cNvPr id="4" name="Right Content"/>
          <p:cNvPicPr>
            <a:picLocks noChangeAspect="1" noGrp="1"/>
          </p:cNvPicPr>
          <p:nvPr>
            <p:ph idx="2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80" y="2858294"/>
            <a:ext cx="5120640" cy="2286000"/>
          </a:xfrm>
          <a:prstGeom prst="rect"/>
        </p:spPr>
      </p:pic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Break something on purpose (worst-case fault)</a:t>
            </a:r>
          </a:p>
        </p:txBody>
      </p:sp>
      <p:graphicFrame>
        <p:nvGraphicFramePr>
          <p:cNvPr id="3" name="Left Content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1727200"/>
                <a:gridCol w="1727200"/>
                <a:gridCol w="1727200"/>
              </a:tblGrid>
              <a:tr h="1087834">
                <a:tc>
                  <a:txBody>
                    <a:bodyPr/>
                    <a:p>
                      <a:r>
                        <a:t>Variant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Worst single fault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Retention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HyperCook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InlineQCScanner (serial single-string)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0%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LeanBroth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PrepWorkstation (serial single-string)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0%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ProductionCell1 (one of three cells)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67%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pic>
        <p:nvPicPr>
          <p:cNvPr id="4" name="Right Content"/>
          <p:cNvPicPr>
            <a:picLocks noChangeAspect="1" noGrp="1"/>
          </p:cNvPicPr>
          <p:nvPr>
            <p:ph idx="2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80" y="2858294"/>
            <a:ext cx="5120640" cy="2286000"/>
          </a:xfrm>
          <a:prstGeom prst="rect"/>
        </p:spPr>
      </p:pic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pass/fail line (formal compliance gate)</a:t>
            </a:r>
          </a:p>
        </p:txBody>
      </p:sp>
      <p:graphicFrame>
        <p:nvGraphicFramePr>
          <p:cNvPr id="3" name="Left Content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5181600"/>
              </a:tblGrid>
              <a:tr h="1087834">
                <a:tc>
                  <a:txBody>
                    <a:bodyPr/>
                    <a:p>
                      <a:r>
                        <a:t>8 quantitative requirements as executable Requirements Table rows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Canonical roll-up and simulation metrics feed the gate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A parallel hand-coded check must agree with every formal verdict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1087834">
                <a:tc>
                  <a:txBody>
                    <a:bodyPr/>
                    <a:p>
                      <a:r>
                        <a:t>A failed gate stays visible when all three candidates are scored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Right Content"/>
          <p:cNvGraphicFramePr>
            <a:graphicFrameLocks noGrp="1"/>
          </p:cNvGraphicFramePr>
          <p:nvPr>
            <p:ph idx="2" sz="half"/>
          </p:nvPr>
        </p:nvGraphicFramePr>
        <p:xfrm>
          <a:off x="6172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2590800"/>
                <a:gridCol w="2590800"/>
              </a:tblGrid>
              <a:tr h="725223">
                <a:tc>
                  <a:txBody>
                    <a:bodyPr/>
                    <a:p>
                      <a:r>
                        <a:t>Variant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Formal gate result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725223">
                <a:tc>
                  <a:txBody>
                    <a:bodyPr/>
                    <a:p>
                      <a:r>
                        <a:t>HyperCook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fails power, cost and volume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725223">
                <a:tc>
                  <a:txBody>
                    <a:bodyPr/>
                    <a:p>
                      <a:r>
                        <a:t>LeanBroth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fails throughput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725223"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compliant on all 8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725223">
                <a:tc>
                  <a:txBody>
                    <a:bodyPr/>
                    <a:p>
                      <a:r>
                        <a:t>Checks passing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20 of 24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725223">
                <a:tc>
                  <a:txBody>
                    <a:bodyPr/>
                    <a:p>
                      <a:r>
                        <a:t>Recovery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QC reject &lt;= ~1.3% clears the 200 bph floor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Pick a winner you can defend (MCDA + Monte Carlo)</a:t>
            </a:r>
          </a:p>
        </p:txBody>
      </p:sp>
      <p:graphicFrame>
        <p:nvGraphicFramePr>
          <p:cNvPr id="3" name="Left Content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 bandRow="1" firstRow="1"/>
              <a:tblGrid>
                <a:gridCol w="1036320"/>
                <a:gridCol w="1036320"/>
                <a:gridCol w="1036320"/>
                <a:gridCol w="1036320"/>
                <a:gridCol w="1036320"/>
              </a:tblGrid>
              <a:tr h="870267">
                <a:tc>
                  <a:txBody>
                    <a:bodyPr/>
                    <a:p>
                      <a:r>
                        <a:t>Scenario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HyperCook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LeanBroth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Winner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Balanced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0.35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0.35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0.69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ThroughputFirst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0.47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0.30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0.60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CostLean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0.20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0.61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0.53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LeanBroth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870267">
                <a:tc>
                  <a:txBody>
                    <a:bodyPr/>
                    <a:p>
                      <a:r>
                        <a:t>MissionAssurance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0.25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0.31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0.82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  <a:tc>
                  <a:txBody>
                    <a:bodyPr/>
                    <a:p>
                      <a:r>
                        <a:t>EverSimmer</a:t>
                      </a:r>
                    </a:p>
                  </a:txBody>
                  <a:tcPr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pic>
        <p:nvPicPr>
          <p:cNvPr id="4" name="Right Content"/>
          <p:cNvPicPr>
            <a:picLocks noChangeAspect="1" noGrp="1"/>
          </p:cNvPicPr>
          <p:nvPr>
            <p:ph idx="2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80" y="2949734"/>
            <a:ext cx="5120640" cy="2103120"/>
          </a:xfrm>
          <a:prstGeom prst="rect"/>
        </p:spPr>
      </p:pic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leaves the selection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bandRow="1" firstRow="1"/>
              <a:tblGrid>
                <a:gridCol w="10515600"/>
              </a:tblGrid>
              <a:tr h="0">
                <a:tc>
                  <a:txBody>
                    <a:bodyPr/>
                    <a:p>
                      <a:r>
                        <a:t>No baseline is committed: ADR-035 reopened the selection for team review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t>  EverSimmer leads on the merits: wins 3 of 4 named scenarios and 85.5% of 5,000 random weightings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t>  it is the only candidate that clears all 8 formal gates and still produces after any single fault (67% retention)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t>LeanBroth remains a descope option, but misses the 200 bph throughput floor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t>HyperCook keeps the 119 s cold-start and raw-rate advantages, but fails power, cost and volume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t>Every number regenerates from the repo: runFullAnalysis for results, runAllTests for evidence</a:t>
                      </a:r>
                    </a:p>
                  </a:txBody>
                  <a:tcPr>
                    <a:lnL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B algn="ctr" cap="flat" cmpd="sng" w="1271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</a:tcPr>
                </a:tc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