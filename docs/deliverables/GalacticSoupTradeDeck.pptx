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14" Target="slides/slide9.xml" Type="http://schemas.openxmlformats.org/officeDocument/2006/relationships/slide"/>
  <Relationship Id="rId15" Target="slides/slide10.xml" Type="http://schemas.openxmlformats.org/officeDocument/2006/relationships/slide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1.xml" Type="http://schemas.openxmlformats.org/officeDocument/2006/relationships/slideLayout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71076dff-55f7-4c54-9b17-26e158993343.png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59ca9cd-abca-4ee8-ae02-5efe5a958a3b.png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90338ddc-92a1-403b-bab6-efd838cbee7f.png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c6b9ab7e-a298-413d-b430-cf6beeb6e4fb.png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69e8af15-0f02-4658-ba2c-67e80e141ae2.png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39c07aca-6d7b-4f2f-9894-40c1c658e32f.png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</Relationships>

</file>

<file path=ppt/slides/_rels/slide9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e0670eb4-141c-43b5-adb2-faee61d7433f.png" Type="http://schemas.openxmlformats.org/officeDocument/2006/relationships/image"/>
</Relationships>

</file>

<file path=ppt/slides/_rels/slide10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/>
          <a:p>
            <a:r>
              <a:t>Intergalactic Vegan Soup Factory</a:t>
            </a:r>
          </a:p>
        </p:txBody>
      </p:sp>
      <p:sp>
        <p:nvSpPr>
          <p:cNvPr id="3" name="Subtitle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t>Architecture trade study at behavioral fidelity
Three variants, one winner - every number reproducible with runFullAnalysis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HyperCook - throughput first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9654"/>
            <a:ext cx="10058400" cy="3383280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LeanBroth - budget first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9654"/>
            <a:ext cx="10058400" cy="3383280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EverSimmer - resilience first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9654"/>
            <a:ext cx="10058400" cy="3383280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The paper numbers (static roll-up)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5181600"/>
              </a:tblGrid>
              <a:tr h="870267">
                <a:tc>
                  <a:txBody>
                    <a:bodyPr/>
                    <a:p>
                      <a:r>
                        <a:t>Every component carries the same 11-property stereotype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Mass, power, cost, volume sum bottom-up through the hierarchy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Throughput is bottleneck math: a chain runs at its slowest stage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Budget caps are parsed from the requirement text at run time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Claims, not evidence: assumes lossless flow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743994"/>
            <a:ext cx="5120640" cy="251460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Run the factory (nominal simulation)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5181600"/>
              </a:tblGrid>
              <a:tr h="870267">
                <a:tc>
                  <a:txBody>
                    <a:bodyPr/>
                    <a:p>
                      <a:r>
                        <a:t>Behaviors live inside the architecture models themselves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Batch kettles heat up physically; QC rejects a few percent and recalibrates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Simulated vs rated: 308 vs 320, 197 vs 210, 232 vs 240 bph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First bowl: 119 s continuous vs ~57 min batch cold start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LeanBroth's margin is gone before the trade study even starts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858294"/>
            <a:ext cx="5120640" cy="228600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Break something on purpose (worst-case fault)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1727200"/>
                <a:gridCol w="1727200"/>
                <a:gridCol w="1727200"/>
              </a:tblGrid>
              <a:tr h="1087834">
                <a:tc>
                  <a:txBody>
                    <a:bodyPr/>
                    <a:p>
                      <a:r>
                        <a:t>Variant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Worst single fault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Retention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HyperCook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QC scanner (single string)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0%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LeanBroth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Prep station (single string)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0%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One of three cells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67%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858294"/>
            <a:ext cx="5120640" cy="228600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The pass/fail line (formal compliance gate)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5181600"/>
              </a:tblGrid>
              <a:tr h="1087834">
                <a:tc>
                  <a:txBody>
                    <a:bodyPr/>
                    <a:p>
                      <a:r>
                        <a:t>Eight quantitative requirements as executable Requirements Table rows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Simulated metrics feed the gate; a parallel hand-coded check must agree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Fail any gate and you are excluded from scoring, not ranked lower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An eliminated variant is a finding with a recovery path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Right Content"/>
          <p:cNvGraphicFramePr>
            <a:graphicFrameLocks noGrp="1"/>
          </p:cNvGraphicFramePr>
          <p:nvPr>
            <p:ph idx="2" sz="half"/>
          </p:nvPr>
        </p:nvGraphicFramePr>
        <p:xfrm>
          <a:off x="6172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2590800"/>
                <a:gridCol w="2590800"/>
              </a:tblGrid>
              <a:tr h="870267">
                <a:tc>
                  <a:txBody>
                    <a:bodyPr/>
                    <a:p>
                      <a:r>
                        <a:t>Result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/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Checks passing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20 of 24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Failing  HyperCook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Power, Cost, Volume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Failing  LeanBroth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Throughput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Recovery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QC bench with reject &lt;= ~1.3% puts LeanBroth back over the floor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Pick a winner you can defend (MCDA + Monte Carlo)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1727200"/>
                <a:gridCol w="1727200"/>
                <a:gridCol w="1727200"/>
              </a:tblGrid>
              <a:tr h="870267">
                <a:tc>
                  <a:txBody>
                    <a:bodyPr/>
                    <a:p>
                      <a:r>
                        <a:t>Scenario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HyperCook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Balanced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0.80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0.20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ThroughputFirst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0.65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0.35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CostLean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0.90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0.10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MissionAssurance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0.90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0.10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949734"/>
            <a:ext cx="5120640" cy="210312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graphicFrame>
        <p:nvGraphicFramePr>
          <p:cNvPr id="3" name="Content"/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bandRow="1" firstRow="1"/>
              <a:tblGrid>
                <a:gridCol w="10515600"/>
              </a:tblGrid>
              <a:tr h="0">
                <a:tc>
                  <a:txBody>
                    <a:bodyPr/>
                    <a:p>
                      <a:r>
                        <a:t>Adopt EverSimmer as the baseline architecture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  wins all four stakeholder scenarios and 98.4% of 5,000 random weightings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  only variant that keeps producing after any single fault (67% retention, Degraded mode)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LeanBroth is eliminated, not dead: a better QC bench puts it back over the throughput floor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HyperCook keeps a niche - 119-second cold start and the highest raw rate - but is now over the power, cost and volume caps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Every number regenerates from the repo: runFullAnalysis, seeded Monte Carlo, 72-test suite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