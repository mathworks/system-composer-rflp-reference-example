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removePersonalInfoOnSave="1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10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 ?>
<Relationships xmlns="http://schemas.openxmlformats.org/package/2006/relationships">
  <Relationship Id="rId1" Target="slideMasters/slideMaster1.xml" Type="http://schemas.openxmlformats.org/officeDocument/2006/relationships/slideMaster"/>
  <Relationship Id="rId10" Target="slides/slide5.xml" Type="http://schemas.openxmlformats.org/officeDocument/2006/relationships/slide"/>
  <Relationship Id="rId11" Target="slides/slide6.xml" Type="http://schemas.openxmlformats.org/officeDocument/2006/relationships/slide"/>
  <Relationship Id="rId12" Target="slides/slide7.xml" Type="http://schemas.openxmlformats.org/officeDocument/2006/relationships/slide"/>
  <Relationship Id="rId13" Target="slides/slide8.xml" Type="http://schemas.openxmlformats.org/officeDocument/2006/relationships/slide"/>
  <Relationship Id="rId14" Target="slides/slide9.xml" Type="http://schemas.openxmlformats.org/officeDocument/2006/relationships/slide"/>
  <Relationship Id="rId15" Target="slides/slide10.xml" Type="http://schemas.openxmlformats.org/officeDocument/2006/relationships/slide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<Relationship Id="rId6" Target="slides/slide1.xml" Type="http://schemas.openxmlformats.org/officeDocument/2006/relationships/slide"/>
  <Relationship Id="rId7" Target="slides/slide2.xml" Type="http://schemas.openxmlformats.org/officeDocument/2006/relationships/slide"/>
  <Relationship Id="rId8" Target="slides/slide3.xml" Type="http://schemas.openxmlformats.org/officeDocument/2006/relationships/slide"/>
  <Relationship Id="rId9" Target="slides/slide4.xml" Type="http://schemas.openxmlformats.org/officeDocument/2006/relationships/slide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7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Left Content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Content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Left Text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Left Content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Text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ight Content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05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41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03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34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16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028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545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able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135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"/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75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07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
  <Relationship Id="rId1" Target="../slideLayouts/slideLayout1.xml" Type="http://schemas.openxmlformats.org/officeDocument/2006/relationships/slideLayout"/>
</Relationships>

</file>

<file path=ppt/slides/_rels/slide2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aa1758d5-8dc0-4b24-8953-b090c0717f42.png" Type="http://schemas.openxmlformats.org/officeDocument/2006/relationships/image"/>
</Relationships>

</file>

<file path=ppt/slides/_rels/slide3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7d8e6c0b-d229-4768-bff7-4a110c862cd8.png" Type="http://schemas.openxmlformats.org/officeDocument/2006/relationships/image"/>
</Relationships>

</file>

<file path=ppt/slides/_rels/slide4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0b455b33-2269-4c78-a4b4-c18db3d46d96.png" Type="http://schemas.openxmlformats.org/officeDocument/2006/relationships/image"/>
</Relationships>

</file>

<file path=ppt/slides/_rels/slide5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fb475ace-bd8e-41a1-90e3-58e14bbd765b.png" Type="http://schemas.openxmlformats.org/officeDocument/2006/relationships/image"/>
</Relationships>

</file>

<file path=ppt/slides/_rels/slide6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0533c5b3-6215-499a-82c1-99003d1a84e6.png" Type="http://schemas.openxmlformats.org/officeDocument/2006/relationships/image"/>
</Relationships>

</file>

<file path=ppt/slides/_rels/slide7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bb40f2dd-f442-40d8-adf0-0134e475227a.png" Type="http://schemas.openxmlformats.org/officeDocument/2006/relationships/image"/>
</Relationships>

</file>

<file path=ppt/slides/_rels/slide8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</Relationships>

</file>

<file path=ppt/slides/_rels/slide9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f8532d41-c214-4605-b8f7-be3740f1b276.png" Type="http://schemas.openxmlformats.org/officeDocument/2006/relationships/image"/>
</Relationships>

</file>

<file path=ppt/slides/_rels/slide10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/>
          <a:p>
            <a:r>
              <a:t>Intergalactic Vegan Soup Factory</a:t>
            </a:r>
          </a:p>
        </p:txBody>
      </p:sp>
      <p:sp>
        <p:nvSpPr>
          <p:cNvPr id="3" name="Subtitle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t>Architecture trade study at behavioral fidelity
Three candidates scored side by side - every number reproducible with runFullAnalysis</a:t>
            </a:r>
          </a:p>
        </p:txBody>
      </p:sp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HyperCook - throughput first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309654"/>
            <a:ext cx="10058400" cy="3383280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LeanBroth - budget first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309654"/>
            <a:ext cx="10058400" cy="3383280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EverSimmer - resilience first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309654"/>
            <a:ext cx="10058400" cy="3383280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The paper numbers (static roll-up)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5181600"/>
              </a:tblGrid>
              <a:tr h="725223">
                <a:tc>
                  <a:txBody>
                    <a:bodyPr/>
                    <a:p>
                      <a:r>
                        <a:t>Every component carries the same 11-property stereotype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725223">
                <a:tc>
                  <a:txBody>
                    <a:bodyPr/>
                    <a:p>
                      <a:r>
                        <a:t>Mass, power, cost, volume sum bottom-up through the hierarchy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725223">
                <a:tc>
                  <a:txBody>
                    <a:bodyPr/>
                    <a:p>
                      <a:r>
                        <a:t>Throughput is bottleneck math: a chain runs at its slowest stage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725223">
                <a:tc>
                  <a:txBody>
                    <a:bodyPr/>
                    <a:p>
                      <a:r>
                        <a:t>Budget caps are parsed from the requirement text at run time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725223">
                <a:tc>
                  <a:txBody>
                    <a:bodyPr/>
                    <a:p>
                      <a:r>
                        <a:t>HyperCook is over its cost and volume caps before anything runs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725223">
                <a:tc>
                  <a:txBody>
                    <a:bodyPr/>
                    <a:p>
                      <a:r>
                        <a:t>Claims, not evidence: assumes lossless flow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pic>
        <p:nvPicPr>
          <p:cNvPr id="4" name="Right Content"/>
          <p:cNvPicPr>
            <a:picLocks noChangeAspect="1" noGrp="1"/>
          </p:cNvPicPr>
          <p:nvPr>
            <p:ph idx="2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680" y="2743994"/>
            <a:ext cx="5120640" cy="2514600"/>
          </a:xfrm>
          <a:prstGeom prst="rect"/>
        </p:spPr>
      </p:pic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Run the factory (nominal simulation)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5181600"/>
              </a:tblGrid>
              <a:tr h="870267">
                <a:tc>
                  <a:txBody>
                    <a:bodyPr/>
                    <a:p>
                      <a:r>
                        <a:t>Behaviors live inside the architecture models themselves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Batch kettles heat up physically; QC rejects a few percent and recalibrates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Simulated vs rated: 308 vs 320, 197 vs 210, 232 vs 240 bph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First bowl: 119 s continuous vs ~57 min batch cold start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LeanBroth's margin is gone before the trade study even starts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pic>
        <p:nvPicPr>
          <p:cNvPr id="4" name="Right Content"/>
          <p:cNvPicPr>
            <a:picLocks noChangeAspect="1" noGrp="1"/>
          </p:cNvPicPr>
          <p:nvPr>
            <p:ph idx="2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680" y="2858294"/>
            <a:ext cx="5120640" cy="2286000"/>
          </a:xfrm>
          <a:prstGeom prst="rect"/>
        </p:spPr>
      </p:pic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Break something on purpose (worst-case fault)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1727200"/>
                <a:gridCol w="1727200"/>
                <a:gridCol w="1727200"/>
              </a:tblGrid>
              <a:tr h="1087834">
                <a:tc>
                  <a:txBody>
                    <a:bodyPr/>
                    <a:p>
                      <a:r>
                        <a:t>Variant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Worst single fault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Retention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HyperCook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InlineQCScanner (serial single-string)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0%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LeanBroth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PrepWorkstation (serial single-string)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0%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EverSimmer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ProductionCell1 (one of three cells)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67%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pic>
        <p:nvPicPr>
          <p:cNvPr id="4" name="Right Content"/>
          <p:cNvPicPr>
            <a:picLocks noChangeAspect="1" noGrp="1"/>
          </p:cNvPicPr>
          <p:nvPr>
            <p:ph idx="2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680" y="2858294"/>
            <a:ext cx="5120640" cy="2286000"/>
          </a:xfrm>
          <a:prstGeom prst="rect"/>
        </p:spPr>
      </p:pic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The pass/fail line (formal compliance gate)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5181600"/>
              </a:tblGrid>
              <a:tr h="1087834">
                <a:tc>
                  <a:txBody>
                    <a:bodyPr/>
                    <a:p>
                      <a:r>
                        <a:t>8 quantitative requirements as executable Requirements Table rows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Simulated metrics feed the gate; a parallel hand-coded check must agree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A failed gate travels with the variant into scoring rather than silently dropping it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1087834">
                <a:tc>
                  <a:txBody>
                    <a:bodyPr/>
                    <a:p>
                      <a:r>
                        <a:t>An eliminated variant is a finding with a recovery path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Right Content"/>
          <p:cNvGraphicFramePr>
            <a:graphicFrameLocks noGrp="1"/>
          </p:cNvGraphicFramePr>
          <p:nvPr>
            <p:ph idx="2" sz="half"/>
          </p:nvPr>
        </p:nvGraphicFramePr>
        <p:xfrm>
          <a:off x="6172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2590800"/>
                <a:gridCol w="2590800"/>
              </a:tblGrid>
              <a:tr h="725223">
                <a:tc>
                  <a:txBody>
                    <a:bodyPr/>
                    <a:p>
                      <a:r>
                        <a:t>Variant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Formal gate result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725223">
                <a:tc>
                  <a:txBody>
                    <a:bodyPr/>
                    <a:p>
                      <a:r>
                        <a:t>HyperCook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fails cost and volume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725223">
                <a:tc>
                  <a:txBody>
                    <a:bodyPr/>
                    <a:p>
                      <a:r>
                        <a:t>LeanBroth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fails throughput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725223">
                <a:tc>
                  <a:txBody>
                    <a:bodyPr/>
                    <a:p>
                      <a:r>
                        <a:t>EverSimmer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compliant on all 8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725223">
                <a:tc>
                  <a:txBody>
                    <a:bodyPr/>
                    <a:p>
                      <a:r>
                        <a:t>Checks passing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21 of 24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725223">
                <a:tc>
                  <a:txBody>
                    <a:bodyPr/>
                    <a:p>
                      <a:r>
                        <a:t>Recovery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QC bench with reject &lt;= ~1.3% clears the 200 bph floor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Pick a winner you can defend (MCDA + Monte Carlo)</a:t>
            </a:r>
          </a:p>
        </p:txBody>
      </p:sp>
      <p:graphicFrame>
        <p:nvGraphicFramePr>
          <p:cNvPr id="3" name="Left Content"/>
          <p:cNvGraphicFramePr>
            <a:graphicFrameLocks noGrp="1"/>
          </p:cNvGraphicFramePr>
          <p:nvPr>
            <p:ph idx="1" sz="half"/>
          </p:nvPr>
        </p:nvGraphicFramePr>
        <p:xfrm>
          <a:off x="838200" y="1825625"/>
          <a:ext cx="5181600" cy="4351338"/>
        </p:xfrm>
        <a:graphic>
          <a:graphicData uri="http://schemas.openxmlformats.org/drawingml/2006/table">
            <a:tbl>
              <a:tblPr bandRow="1" firstRow="1"/>
              <a:tblGrid>
                <a:gridCol w="1036320"/>
                <a:gridCol w="1036320"/>
                <a:gridCol w="1036320"/>
                <a:gridCol w="1036320"/>
                <a:gridCol w="1036320"/>
              </a:tblGrid>
              <a:tr h="870267">
                <a:tc>
                  <a:txBody>
                    <a:bodyPr/>
                    <a:p>
                      <a:r>
                        <a:t>Scenario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HyperCook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LeanBroth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EverSimmer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Winner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Balanced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0.34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0.35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0.68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EverSimmer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ThroughputFirst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0.47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0.30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0.60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EverSimmer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CostLean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0.20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0.61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0.52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LeanBroth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870267">
                <a:tc>
                  <a:txBody>
                    <a:bodyPr/>
                    <a:p>
                      <a:r>
                        <a:t>MissionAssurance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0.24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0.31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0.82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  <a:tc>
                  <a:txBody>
                    <a:bodyPr/>
                    <a:p>
                      <a:r>
                        <a:t>EverSimmer</a:t>
                      </a:r>
                    </a:p>
                  </a:txBody>
                  <a:tcPr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pic>
        <p:nvPicPr>
          <p:cNvPr id="4" name="Right Content"/>
          <p:cNvPicPr>
            <a:picLocks noChangeAspect="1" noGrp="1"/>
          </p:cNvPicPr>
          <p:nvPr>
            <p:ph idx="2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2680" y="2949734"/>
            <a:ext cx="5120640" cy="2103120"/>
          </a:xfrm>
          <a:prstGeom prst="rect"/>
        </p:spPr>
      </p:pic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this leaves the selection</a:t>
            </a:r>
          </a:p>
        </p:txBody>
      </p:sp>
      <p:graphicFrame>
        <p:nvGraphicFramePr>
          <p:cNvPr id="3" name="Content"/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table">
            <a:tbl>
              <a:tblPr bandRow="1" firstRow="1"/>
              <a:tblGrid>
                <a:gridCol w="10515600"/>
              </a:tblGrid>
              <a:tr h="0">
                <a:tc>
                  <a:txBody>
                    <a:bodyPr/>
                    <a:p>
                      <a:r>
                        <a:t>No baseline is committed: ADR-035 reopened the selection for team review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T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T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  EverSimmer leads on the merits: wins 3 of 4 named scenarios and 85.2% of 5,000 random weightings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  it is the only candidate that clears all 8 formal gates, and the only one still producing after any single fault (67% retention, Degraded mode)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LeanBroth is eliminated, not dead: a better QC bench puts it back over the 200 bph throughput floor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HyperCook keeps a niche - 119 s cold start and the highest raw rate - but is over cost and volume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  <a:tr h="0">
                <a:tc>
                  <a:txBody>
                    <a:bodyPr/>
                    <a:p>
                      <a:r>
                        <a:t>Every number regenerates from the repo: runFullAnalysis for the results, runAllTests for the evidence</a:t>
                      </a:r>
                    </a:p>
                  </a:txBody>
                  <a:tcPr>
                    <a:lnL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L>
                    <a:lnR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R>
                    <a:lnB algn="ctr" cap="flat" cmpd="sng" w="12710">
                      <a:solidFill>
                        <a:srgbClr val="000000"/>
                      </a:solidFill>
                      <a:prstDash val="solid"/>
                      <a:round/>
                      <a:headEnd len="med" type="none" w="med"/>
                      <a:tailEnd len="med" type="none" w="med"/>
                    </a:lnB>
                  </a:tcPr>
                </a:tc>
              </a:tr>
            </a:tbl>
          </a:graphicData>
        </a:graphic>
      </p:graphicFrame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.potx" id="{4DAAD9BA-8E58-4898-BC8A-99302C4F06E1}" vid="{BA943B1D-2A1C-434D-B720-D47753C609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9</cp:revision>
  <dcterms:created xsi:type="dcterms:W3CDTF">2014-10-29T15:36:00Z</dcterms:created>
  <dcterms:modified xsi:type="dcterms:W3CDTF">2019-03-21T19:04:45Z</dcterms:modified>
</cp:coreProperties>
</file>