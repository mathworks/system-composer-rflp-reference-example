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removePersonalInfoOnSave="1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10" y="4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 ?>
<Relationships xmlns="http://schemas.openxmlformats.org/package/2006/relationships">
  <Relationship Id="rId1" Target="slideMasters/slideMaster1.xml" Type="http://schemas.openxmlformats.org/officeDocument/2006/relationships/slideMaster"/>
  <Relationship Id="rId10" Target="slides/slide5.xml" Type="http://schemas.openxmlformats.org/officeDocument/2006/relationships/slide"/>
  <Relationship Id="rId11" Target="slides/slide6.xml" Type="http://schemas.openxmlformats.org/officeDocument/2006/relationships/slide"/>
  <Relationship Id="rId12" Target="slides/slide7.xml" Type="http://schemas.openxmlformats.org/officeDocument/2006/relationships/slide"/>
  <Relationship Id="rId13" Target="slides/slide8.xml" Type="http://schemas.openxmlformats.org/officeDocument/2006/relationships/slide"/>
  <Relationship Id="rId14" Target="slides/slide9.xml" Type="http://schemas.openxmlformats.org/officeDocument/2006/relationships/slide"/>
  <Relationship Id="rId15" Target="slides/slide10.xml" Type="http://schemas.openxmlformats.org/officeDocument/2006/relationships/slide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<Relationship Id="rId6" Target="slides/slide1.xml" Type="http://schemas.openxmlformats.org/officeDocument/2006/relationships/slide"/>
  <Relationship Id="rId7" Target="slides/slide2.xml" Type="http://schemas.openxmlformats.org/officeDocument/2006/relationships/slide"/>
  <Relationship Id="rId8" Target="slides/slide3.xml" Type="http://schemas.openxmlformats.org/officeDocument/2006/relationships/slide"/>
  <Relationship Id="rId9" Target="slides/slide4.xml" Type="http://schemas.openxmlformats.org/officeDocument/2006/relationships/slide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98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77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Left Content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ight Content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Left Text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Left Content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ight Text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Right Content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8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705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41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0339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344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169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028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5455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able"/>
          <p:cNvSpPr>
            <a:spLocks noGrp="1"/>
          </p:cNvSpPr>
          <p:nvPr>
            <p:ph type="tbl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5135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"/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475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607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
  <Relationship Id="rId1" Target="../slideLayouts/slideLayout1.xml" Type="http://schemas.openxmlformats.org/officeDocument/2006/relationships/slideLayout"/>
</Relationships>

</file>

<file path=ppt/slides/_rels/slide2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781b166-cc04-45a5-897a-fc56448db3b9.png" Type="http://schemas.openxmlformats.org/officeDocument/2006/relationships/image"/>
</Relationships>

</file>

<file path=ppt/slides/_rels/slide3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bb7d59a7-d0b1-4126-afca-55bcc1e6b7ce.png" Type="http://schemas.openxmlformats.org/officeDocument/2006/relationships/image"/>
</Relationships>

</file>

<file path=ppt/slides/_rels/slide4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8a9747aa-be77-4ef6-aede-c2b06125304e.png" Type="http://schemas.openxmlformats.org/officeDocument/2006/relationships/image"/>
</Relationships>

</file>

<file path=ppt/slides/_rels/slide5.xml.rels><?xml version="1.0" encoding="UTF-8" standalone="yes" ?>
<Relationships xmlns="http://schemas.openxmlformats.org/package/2006/relationships">
  <Relationship Id="rId1" Target="../slideLayouts/slideLayout4.xml" Type="http://schemas.openxmlformats.org/officeDocument/2006/relationships/slideLayout"/>
  <Relationship Id="rId2" Target="../media/06d40c6b-89af-4ff5-b2d2-e9db3131f43b.png" Type="http://schemas.openxmlformats.org/officeDocument/2006/relationships/image"/>
</Relationships>

</file>

<file path=ppt/slides/_rels/slide6.xml.rels><?xml version="1.0" encoding="UTF-8" standalone="yes" ?>
<Relationships xmlns="http://schemas.openxmlformats.org/package/2006/relationships">
  <Relationship Id="rId1" Target="../slideLayouts/slideLayout4.xml" Type="http://schemas.openxmlformats.org/officeDocument/2006/relationships/slideLayout"/>
  <Relationship Id="rId2" Target="../media/04e1cb2c-ee7f-4758-9d3c-0b91963909b9.png" Type="http://schemas.openxmlformats.org/officeDocument/2006/relationships/image"/>
</Relationships>

</file>

<file path=ppt/slides/_rels/slide7.xml.rels><?xml version="1.0" encoding="UTF-8" standalone="yes" ?>
<Relationships xmlns="http://schemas.openxmlformats.org/package/2006/relationships">
  <Relationship Id="rId1" Target="../slideLayouts/slideLayout4.xml" Type="http://schemas.openxmlformats.org/officeDocument/2006/relationships/slideLayout"/>
  <Relationship Id="rId2" Target="../media/c4f77575-dbc7-47b5-a995-85187daadfd6.png" Type="http://schemas.openxmlformats.org/officeDocument/2006/relationships/image"/>
</Relationships>

</file>

<file path=ppt/slides/_rels/slide8.xml.rels><?xml version="1.0" encoding="UTF-8" standalone="yes" ?>
<Relationships xmlns="http://schemas.openxmlformats.org/package/2006/relationships">
  <Relationship Id="rId1" Target="../slideLayouts/slideLayout4.xml" Type="http://schemas.openxmlformats.org/officeDocument/2006/relationships/slideLayout"/>
</Relationships>

</file>

<file path=ppt/slides/_rels/slide9.xml.rels><?xml version="1.0" encoding="UTF-8" standalone="yes" ?>
<Relationships xmlns="http://schemas.openxmlformats.org/package/2006/relationships">
  <Relationship Id="rId1" Target="../slideLayouts/slideLayout4.xml" Type="http://schemas.openxmlformats.org/officeDocument/2006/relationships/slideLayout"/>
  <Relationship Id="rId2" Target="../media/f359703a-f517-4e31-b90e-e95f8bda7f88.png" Type="http://schemas.openxmlformats.org/officeDocument/2006/relationships/image"/>
</Relationships>

</file>

<file path=ppt/slides/_rels/slide10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</Relationships>
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/>
          <a:p>
            <a:r>
              <a:t>Intergalactic Vegan Soup Factory</a:t>
            </a:r>
          </a:p>
        </p:txBody>
      </p:sp>
      <p:sp>
        <p:nvSpPr>
          <p:cNvPr id="3" name="Subtitle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t>Architecture trade study at behavioral fidelity
Three variants, one winner - every number reproducible with runFullAnalysis</a:t>
            </a:r>
          </a:p>
        </p:txBody>
      </p:sp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984289"/>
      </p:ext>
    </p:extLst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HyperCook - throughput first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2309654"/>
            <a:ext cx="10058400" cy="3383280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LeanBroth - budget first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2309654"/>
            <a:ext cx="10058400" cy="3383280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EverSimmer - resilience first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2309654"/>
            <a:ext cx="10058400" cy="3383280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The paper numbers (static roll-up)</a:t>
            </a:r>
          </a:p>
        </p:txBody>
      </p:sp>
      <p:graphicFrame>
        <p:nvGraphicFramePr>
          <p:cNvPr id="3" name="Left Content"/>
          <p:cNvGraphicFramePr>
            <a:graphicFrameLocks noGrp="1"/>
          </p:cNvGraphicFramePr>
          <p:nvPr>
            <p:ph idx="1" sz="half"/>
          </p:nvPr>
        </p:nvGraphicFramePr>
        <p:xfrm>
          <a:off x="838200" y="1825625"/>
          <a:ext cx="5181600" cy="4351338"/>
        </p:xfrm>
        <a:graphic>
          <a:graphicData uri="http://schemas.openxmlformats.org/drawingml/2006/table">
            <a:tbl>
              <a:tblPr bandRow="1" firstRow="1"/>
              <a:tblGrid>
                <a:gridCol w="5181600"/>
              </a:tblGrid>
              <a:tr h="870267">
                <a:tc>
                  <a:txBody>
                    <a:bodyPr/>
                    <a:p>
                      <a:r>
                        <a:t>Every component carries the same 11-property stereotype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Mass, power, cost, volume sum bottom-up through the hierarchy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Throughput is bottleneck math: a chain runs at its slowest stage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Budget caps are parsed from the requirement text at run time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Claims, not evidence: assumes lossless flow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</a:tbl>
          </a:graphicData>
        </a:graphic>
      </p:graphicFrame>
      <p:pic>
        <p:nvPicPr>
          <p:cNvPr id="4" name="Right Content"/>
          <p:cNvPicPr>
            <a:picLocks noChangeAspect="1" noGrp="1"/>
          </p:cNvPicPr>
          <p:nvPr>
            <p:ph idx="2" sz="half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2680" y="2743994"/>
            <a:ext cx="5120640" cy="2514600"/>
          </a:xfrm>
          <a:prstGeom prst="rect"/>
        </p:spPr>
      </p:pic>
      <p:sp>
        <p:nvSpPr>
          <p:cNvPr id="5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Run the factory (nominal simulation)</a:t>
            </a:r>
          </a:p>
        </p:txBody>
      </p:sp>
      <p:graphicFrame>
        <p:nvGraphicFramePr>
          <p:cNvPr id="3" name="Left Content"/>
          <p:cNvGraphicFramePr>
            <a:graphicFrameLocks noGrp="1"/>
          </p:cNvGraphicFramePr>
          <p:nvPr>
            <p:ph idx="1" sz="half"/>
          </p:nvPr>
        </p:nvGraphicFramePr>
        <p:xfrm>
          <a:off x="838200" y="1825625"/>
          <a:ext cx="5181600" cy="4351338"/>
        </p:xfrm>
        <a:graphic>
          <a:graphicData uri="http://schemas.openxmlformats.org/drawingml/2006/table">
            <a:tbl>
              <a:tblPr bandRow="1" firstRow="1"/>
              <a:tblGrid>
                <a:gridCol w="5181600"/>
              </a:tblGrid>
              <a:tr h="870267">
                <a:tc>
                  <a:txBody>
                    <a:bodyPr/>
                    <a:p>
                      <a:r>
                        <a:t>Behaviors live inside the architecture models themselves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Batch kettles heat up physically; QC rejects a few percent and recalibrates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Simulated vs rated: 308 vs 320, 197 vs 210, 232 vs 240 bph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First bowl: 119 s continuous vs ~57 min batch cold start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LeanBroth's margin is gone before the trade study even starts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</a:tbl>
          </a:graphicData>
        </a:graphic>
      </p:graphicFrame>
      <p:pic>
        <p:nvPicPr>
          <p:cNvPr id="4" name="Right Content"/>
          <p:cNvPicPr>
            <a:picLocks noChangeAspect="1" noGrp="1"/>
          </p:cNvPicPr>
          <p:nvPr>
            <p:ph idx="2" sz="half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2680" y="2858294"/>
            <a:ext cx="5120640" cy="2286000"/>
          </a:xfrm>
          <a:prstGeom prst="rect"/>
        </p:spPr>
      </p:pic>
      <p:sp>
        <p:nvSpPr>
          <p:cNvPr id="5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Break something on purpose (worst-case fault)</a:t>
            </a:r>
          </a:p>
        </p:txBody>
      </p:sp>
      <p:graphicFrame>
        <p:nvGraphicFramePr>
          <p:cNvPr id="3" name="Left Content"/>
          <p:cNvGraphicFramePr>
            <a:graphicFrameLocks noGrp="1"/>
          </p:cNvGraphicFramePr>
          <p:nvPr>
            <p:ph idx="1" sz="half"/>
          </p:nvPr>
        </p:nvGraphicFramePr>
        <p:xfrm>
          <a:off x="838200" y="1825625"/>
          <a:ext cx="5181600" cy="4351338"/>
        </p:xfrm>
        <a:graphic>
          <a:graphicData uri="http://schemas.openxmlformats.org/drawingml/2006/table">
            <a:tbl>
              <a:tblPr bandRow="1" firstRow="1"/>
              <a:tblGrid>
                <a:gridCol w="1727200"/>
                <a:gridCol w="1727200"/>
                <a:gridCol w="1727200"/>
              </a:tblGrid>
              <a:tr h="1087834">
                <a:tc>
                  <a:txBody>
                    <a:bodyPr/>
                    <a:p>
                      <a:r>
                        <a:t>Variant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Worst single fault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Retention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1087834">
                <a:tc>
                  <a:txBody>
                    <a:bodyPr/>
                    <a:p>
                      <a:r>
                        <a:t>HyperCook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QC scanner (single string)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0%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1087834">
                <a:tc>
                  <a:txBody>
                    <a:bodyPr/>
                    <a:p>
                      <a:r>
                        <a:t>LeanBroth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Prep station (single string)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0%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1087834">
                <a:tc>
                  <a:txBody>
                    <a:bodyPr/>
                    <a:p>
                      <a:r>
                        <a:t>EverSimmer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One of three cells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67%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</a:tbl>
          </a:graphicData>
        </a:graphic>
      </p:graphicFrame>
      <p:pic>
        <p:nvPicPr>
          <p:cNvPr id="4" name="Right Content"/>
          <p:cNvPicPr>
            <a:picLocks noChangeAspect="1" noGrp="1"/>
          </p:cNvPicPr>
          <p:nvPr>
            <p:ph idx="2" sz="half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2680" y="2858294"/>
            <a:ext cx="5120640" cy="2286000"/>
          </a:xfrm>
          <a:prstGeom prst="rect"/>
        </p:spPr>
      </p:pic>
      <p:sp>
        <p:nvSpPr>
          <p:cNvPr id="5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The pass/fail line (formal compliance gate)</a:t>
            </a:r>
          </a:p>
        </p:txBody>
      </p:sp>
      <p:graphicFrame>
        <p:nvGraphicFramePr>
          <p:cNvPr id="3" name="Left Content"/>
          <p:cNvGraphicFramePr>
            <a:graphicFrameLocks noGrp="1"/>
          </p:cNvGraphicFramePr>
          <p:nvPr>
            <p:ph idx="1" sz="half"/>
          </p:nvPr>
        </p:nvGraphicFramePr>
        <p:xfrm>
          <a:off x="838200" y="1825625"/>
          <a:ext cx="5181600" cy="4351338"/>
        </p:xfrm>
        <a:graphic>
          <a:graphicData uri="http://schemas.openxmlformats.org/drawingml/2006/table">
            <a:tbl>
              <a:tblPr bandRow="1" firstRow="1"/>
              <a:tblGrid>
                <a:gridCol w="5181600"/>
              </a:tblGrid>
              <a:tr h="1087834">
                <a:tc>
                  <a:txBody>
                    <a:bodyPr/>
                    <a:p>
                      <a:r>
                        <a:t>Eight quantitative requirements as executable Requirements Table rows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1087834">
                <a:tc>
                  <a:txBody>
                    <a:bodyPr/>
                    <a:p>
                      <a:r>
                        <a:t>Simulated metrics feed the gate; a parallel hand-coded check must agree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1087834">
                <a:tc>
                  <a:txBody>
                    <a:bodyPr/>
                    <a:p>
                      <a:r>
                        <a:t>Fail any gate and you are excluded from scoring, not ranked lower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1087834">
                <a:tc>
                  <a:txBody>
                    <a:bodyPr/>
                    <a:p>
                      <a:r>
                        <a:t>An eliminated variant is a finding with a recovery path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Right Content"/>
          <p:cNvGraphicFramePr>
            <a:graphicFrameLocks noGrp="1"/>
          </p:cNvGraphicFramePr>
          <p:nvPr>
            <p:ph idx="2" sz="half"/>
          </p:nvPr>
        </p:nvGraphicFramePr>
        <p:xfrm>
          <a:off x="6172200" y="1825625"/>
          <a:ext cx="5181600" cy="4351338"/>
        </p:xfrm>
        <a:graphic>
          <a:graphicData uri="http://schemas.openxmlformats.org/drawingml/2006/table">
            <a:tbl>
              <a:tblPr bandRow="1" firstRow="1"/>
              <a:tblGrid>
                <a:gridCol w="2590800"/>
                <a:gridCol w="2590800"/>
              </a:tblGrid>
              <a:tr h="870267">
                <a:tc>
                  <a:txBody>
                    <a:bodyPr/>
                    <a:p>
                      <a:r>
                        <a:t>Result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/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Checks passing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23 of 24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The failure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LeanBroth throughput: 196.8 vs 200 bph floor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Why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3% QC reject + calibration downtime ate the rated margin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Recovery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QC bench with reject &lt;= ~1.3% restores compliance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</a:tbl>
          </a:graphicData>
        </a:graphic>
      </p:graphicFrame>
      <p:sp>
        <p:nvSpPr>
          <p:cNvPr id="5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Pick a winner you can defend (MCDA + Monte Carlo)</a:t>
            </a:r>
          </a:p>
        </p:txBody>
      </p:sp>
      <p:graphicFrame>
        <p:nvGraphicFramePr>
          <p:cNvPr id="3" name="Left Content"/>
          <p:cNvGraphicFramePr>
            <a:graphicFrameLocks noGrp="1"/>
          </p:cNvGraphicFramePr>
          <p:nvPr>
            <p:ph idx="1" sz="half"/>
          </p:nvPr>
        </p:nvGraphicFramePr>
        <p:xfrm>
          <a:off x="838200" y="1825625"/>
          <a:ext cx="5181600" cy="4351338"/>
        </p:xfrm>
        <a:graphic>
          <a:graphicData uri="http://schemas.openxmlformats.org/drawingml/2006/table">
            <a:tbl>
              <a:tblPr bandRow="1" firstRow="1"/>
              <a:tblGrid>
                <a:gridCol w="1727200"/>
                <a:gridCol w="1727200"/>
                <a:gridCol w="1727200"/>
              </a:tblGrid>
              <a:tr h="870267">
                <a:tc>
                  <a:txBody>
                    <a:bodyPr/>
                    <a:p>
                      <a:r>
                        <a:t>Scenario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EverSimmer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HyperCook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Balanced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0.80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0.20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ThroughputFirst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0.65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0.35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CostLean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0.90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0.10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MissionAssurance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0.90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0.10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</a:tbl>
          </a:graphicData>
        </a:graphic>
      </p:graphicFrame>
      <p:pic>
        <p:nvPicPr>
          <p:cNvPr id="4" name="Right Content"/>
          <p:cNvPicPr>
            <a:picLocks noChangeAspect="1" noGrp="1"/>
          </p:cNvPicPr>
          <p:nvPr>
            <p:ph idx="2" sz="half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2680" y="2949734"/>
            <a:ext cx="5120640" cy="2103120"/>
          </a:xfrm>
          <a:prstGeom prst="rect"/>
        </p:spPr>
      </p:pic>
      <p:sp>
        <p:nvSpPr>
          <p:cNvPr id="5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</a:t>
            </a:r>
          </a:p>
        </p:txBody>
      </p:sp>
      <p:graphicFrame>
        <p:nvGraphicFramePr>
          <p:cNvPr id="3" name="Content"/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table">
            <a:tbl>
              <a:tblPr bandRow="1" firstRow="1"/>
              <a:tblGrid>
                <a:gridCol w="10515600"/>
              </a:tblGrid>
              <a:tr h="0">
                <a:tc>
                  <a:txBody>
                    <a:bodyPr/>
                    <a:p>
                      <a:r>
                        <a:t>Adopt EverSimmer as the baseline architecture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0">
                <a:tc>
                  <a:txBody>
                    <a:bodyPr/>
                    <a:p>
                      <a:r>
                        <a:t>  wins all four stakeholder scenarios and 98.4% of 5,000 random weightings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0">
                <a:tc>
                  <a:txBody>
                    <a:bodyPr/>
                    <a:p>
                      <a:r>
                        <a:t>  only variant that keeps producing after any single fault (67% retention, Degraded mode)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0">
                <a:tc>
                  <a:txBody>
                    <a:bodyPr/>
                    <a:p>
                      <a:r>
                        <a:t>LeanBroth is eliminated, not dead: a better QC bench puts it back over the throughput floor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0">
                <a:tc>
                  <a:txBody>
                    <a:bodyPr/>
                    <a:p>
                      <a:r>
                        <a:t>HyperCook keeps a niche: 119-second cold start and the highest raw rate, at razor-thin budget margins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0">
                <a:tc>
                  <a:txBody>
                    <a:bodyPr/>
                    <a:p>
                      <a:r>
                        <a:t>Every number regenerates from the repo: runFullAnalysis, seeded Monte Carlo, 21 unit tests, 12 project checks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</a:tbl>
          </a:graphicData>
        </a:graphic>
      </p:graphicFrame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.potx" id="{4DAAD9BA-8E58-4898-BC8A-99302C4F06E1}" vid="{BA943B1D-2A1C-434D-B720-D47753C609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Calibri Light</vt:lpstr>
      <vt:lpstr>Office Theme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/>
  <cp:revision>9</cp:revision>
  <dcterms:created xsi:type="dcterms:W3CDTF">2014-10-29T15:36:00Z</dcterms:created>
  <dcterms:modified xsi:type="dcterms:W3CDTF">2019-03-21T19:04:45Z</dcterms:modified>
</cp:coreProperties>
</file>